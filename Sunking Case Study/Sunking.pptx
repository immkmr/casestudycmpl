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3" r:id="rId2"/>
    <p:sldId id="277" r:id="rId3"/>
    <p:sldId id="270" r:id="rId4"/>
    <p:sldId id="294" r:id="rId5"/>
    <p:sldId id="295" r:id="rId6"/>
    <p:sldId id="301" r:id="rId7"/>
    <p:sldId id="298" r:id="rId8"/>
    <p:sldId id="299" r:id="rId9"/>
    <p:sldId id="300" r:id="rId10"/>
    <p:sldId id="297"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E07"/>
    <a:srgbClr val="FEF9D0"/>
    <a:srgbClr val="F7901E"/>
    <a:srgbClr val="22365D"/>
    <a:srgbClr val="9556A2"/>
    <a:srgbClr val="ED4E50"/>
    <a:srgbClr val="259D91"/>
    <a:srgbClr val="F6EE5F"/>
    <a:srgbClr val="7D9CB7"/>
    <a:srgbClr val="2F4A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CC4F1-FCF9-07BD-B156-1AA3D8591A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A16153D-351F-97B9-E16E-633A276939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57A08E-EBEF-B07C-5D92-8672B6C6F7C3}"/>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5" name="Footer Placeholder 4">
            <a:extLst>
              <a:ext uri="{FF2B5EF4-FFF2-40B4-BE49-F238E27FC236}">
                <a16:creationId xmlns:a16="http://schemas.microsoft.com/office/drawing/2014/main" id="{BB053CC9-F6F3-3EAE-1158-06E20B84D2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C515B6-FB01-0022-DE12-9A120B40ED2A}"/>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3504076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BFE0-476A-1E78-DB10-9A7118C696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7F195-44D3-AABA-2025-C7F8BE896D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46E1C5-4F9E-6681-C297-FED94881D473}"/>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5" name="Footer Placeholder 4">
            <a:extLst>
              <a:ext uri="{FF2B5EF4-FFF2-40B4-BE49-F238E27FC236}">
                <a16:creationId xmlns:a16="http://schemas.microsoft.com/office/drawing/2014/main" id="{BE5A05F6-7944-2EA6-25A3-6DDC61B83D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BE3062-18F0-20E1-263B-85A4011B19DF}"/>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2589934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B6E8-E2AB-15C0-94AE-ED3AD8CF19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352733-C2EB-3083-F444-F409BFE548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E7141A-7D93-1DBD-5E60-0397DE59ADB2}"/>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5" name="Footer Placeholder 4">
            <a:extLst>
              <a:ext uri="{FF2B5EF4-FFF2-40B4-BE49-F238E27FC236}">
                <a16:creationId xmlns:a16="http://schemas.microsoft.com/office/drawing/2014/main" id="{3D122135-0D37-AFD2-B30B-BAAD15D20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72A635-0FA3-A11A-560B-702EA9A43920}"/>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1882113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29C3-C08C-0B27-9C97-1D5C395D05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D48DB6-37D8-206E-2CA6-A6DB7917F0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DF862E-3284-5F0B-891F-823AFBCDF8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9D6EED-759D-3BA4-F2C7-0A0F92EFA9FB}"/>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6" name="Footer Placeholder 5">
            <a:extLst>
              <a:ext uri="{FF2B5EF4-FFF2-40B4-BE49-F238E27FC236}">
                <a16:creationId xmlns:a16="http://schemas.microsoft.com/office/drawing/2014/main" id="{96A1EDB7-7DFF-93D3-4EE0-0E4A06B5C4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29662F-8143-6DB1-3012-3347F73DFF6D}"/>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1631747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2BF1E-72E7-DCDF-068B-F30DDAA855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0BD472-59E1-3CFB-FA6C-DB8C969F76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4F2C9F-604B-9A33-4CF0-50D5A71071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43607D5-D519-725E-5613-97D7F73497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8E26D1-C3AD-D061-CFBA-F99795F0B7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16653B-5473-5F25-D66C-369FF10B88B5}"/>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8" name="Footer Placeholder 7">
            <a:extLst>
              <a:ext uri="{FF2B5EF4-FFF2-40B4-BE49-F238E27FC236}">
                <a16:creationId xmlns:a16="http://schemas.microsoft.com/office/drawing/2014/main" id="{2796769A-BC49-A3E2-35CA-7DE2D7A7562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11BE54-B26F-2933-2312-1C8DBBEC5584}"/>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2768499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93587-5DA3-BB10-BEB5-C8D94272A7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C9ACE0-BBFD-EEC1-46C6-F14A1C9747BB}"/>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4" name="Footer Placeholder 3">
            <a:extLst>
              <a:ext uri="{FF2B5EF4-FFF2-40B4-BE49-F238E27FC236}">
                <a16:creationId xmlns:a16="http://schemas.microsoft.com/office/drawing/2014/main" id="{3F6B8508-E2E5-8EED-F92B-48589A1E7E0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3D7165-4861-9578-F26B-E334DEFE1588}"/>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3505043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AB381B-9C78-CFE1-F1A1-CFFBB6A16C89}"/>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3" name="Footer Placeholder 2">
            <a:extLst>
              <a:ext uri="{FF2B5EF4-FFF2-40B4-BE49-F238E27FC236}">
                <a16:creationId xmlns:a16="http://schemas.microsoft.com/office/drawing/2014/main" id="{D46AE351-225F-7C61-03F3-5AB94ECB54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1BFCECF-BC0D-32D5-D74F-E28A283366C7}"/>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1634313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85920-1267-10DB-929B-98DEC95EDF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271F72-5E8A-549E-7982-DEB6F14738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791710-D9B8-9D75-D63A-EF2B7C8E87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713835-3AE9-7065-B9D2-6D69A2D9D28B}"/>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6" name="Footer Placeholder 5">
            <a:extLst>
              <a:ext uri="{FF2B5EF4-FFF2-40B4-BE49-F238E27FC236}">
                <a16:creationId xmlns:a16="http://schemas.microsoft.com/office/drawing/2014/main" id="{AF11F846-14E6-A364-9F0B-631443EE96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0026-ACC4-4800-472D-0492FD482AC1}"/>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293190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9685-28A7-64AC-912C-6444DAC11F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C1BE63-55FB-1627-F1D9-A74B2B2CF8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FB5F8E-49A8-5278-9BD0-1E3F61F35B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61A383-66FD-0810-0496-ACACB4A7FBB8}"/>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6" name="Footer Placeholder 5">
            <a:extLst>
              <a:ext uri="{FF2B5EF4-FFF2-40B4-BE49-F238E27FC236}">
                <a16:creationId xmlns:a16="http://schemas.microsoft.com/office/drawing/2014/main" id="{A94FB98C-B0B5-529F-9EA0-2BD1F18565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9F49AA-38CE-1840-59E3-EBE236C3AE0B}"/>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3190297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812DA-EC4C-4E1E-4A0F-F6A315129A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87B369-F389-AF98-E79A-196023B6D1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860A23-3EA0-17B5-CABE-F2CAD92E4C3A}"/>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5" name="Footer Placeholder 4">
            <a:extLst>
              <a:ext uri="{FF2B5EF4-FFF2-40B4-BE49-F238E27FC236}">
                <a16:creationId xmlns:a16="http://schemas.microsoft.com/office/drawing/2014/main" id="{944CFE54-156A-BA1C-D82B-67B3721688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BD27DE-43A4-E7CE-1190-71C8ED01EFDF}"/>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3590409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2770EA-4F2A-5899-46BB-A7A8CB3434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E1DB7F-8D97-961B-35D7-2DF07F0F0A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E396EC-44A5-DD33-9E8F-669BFFC457ED}"/>
              </a:ext>
            </a:extLst>
          </p:cNvPr>
          <p:cNvSpPr>
            <a:spLocks noGrp="1"/>
          </p:cNvSpPr>
          <p:nvPr>
            <p:ph type="dt" sz="half" idx="10"/>
          </p:nvPr>
        </p:nvSpPr>
        <p:spPr/>
        <p:txBody>
          <a:bodyPr/>
          <a:lstStyle/>
          <a:p>
            <a:fld id="{2DB00FC1-6B13-4289-A061-EF83E1196734}" type="datetimeFigureOut">
              <a:rPr lang="en-IN" smtClean="0"/>
              <a:t>04-07-2024</a:t>
            </a:fld>
            <a:endParaRPr lang="en-IN"/>
          </a:p>
        </p:txBody>
      </p:sp>
      <p:sp>
        <p:nvSpPr>
          <p:cNvPr id="5" name="Footer Placeholder 4">
            <a:extLst>
              <a:ext uri="{FF2B5EF4-FFF2-40B4-BE49-F238E27FC236}">
                <a16:creationId xmlns:a16="http://schemas.microsoft.com/office/drawing/2014/main" id="{3CA0F029-89BA-8B8E-42D5-5D614FF04A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6DF1A-AF8E-1CF0-CD35-C46309284A28}"/>
              </a:ext>
            </a:extLst>
          </p:cNvPr>
          <p:cNvSpPr>
            <a:spLocks noGrp="1"/>
          </p:cNvSpPr>
          <p:nvPr>
            <p:ph type="sldNum" sz="quarter" idx="12"/>
          </p:nvPr>
        </p:nvSpPr>
        <p:spPr/>
        <p:txBody>
          <a:bodyPr/>
          <a:lstStyle/>
          <a:p>
            <a:fld id="{F7ECFB07-2B17-4F73-9183-B074351CF643}" type="slidenum">
              <a:rPr lang="en-IN" smtClean="0"/>
              <a:t>‹#›</a:t>
            </a:fld>
            <a:endParaRPr lang="en-IN"/>
          </a:p>
        </p:txBody>
      </p:sp>
    </p:spTree>
    <p:extLst>
      <p:ext uri="{BB962C8B-B14F-4D97-AF65-F5344CB8AC3E}">
        <p14:creationId xmlns:p14="http://schemas.microsoft.com/office/powerpoint/2010/main" val="2783678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1AD949-C2B3-2559-4CF7-FB83E86AB4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76B688-169D-49C4-4E6C-C46E79D6D0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A651C1-C1EC-3DB2-55EB-4FB4D4B5B8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00FC1-6B13-4289-A061-EF83E1196734}" type="datetimeFigureOut">
              <a:rPr lang="en-IN" smtClean="0"/>
              <a:t>04-07-2024</a:t>
            </a:fld>
            <a:endParaRPr lang="en-IN"/>
          </a:p>
        </p:txBody>
      </p:sp>
      <p:sp>
        <p:nvSpPr>
          <p:cNvPr id="5" name="Footer Placeholder 4">
            <a:extLst>
              <a:ext uri="{FF2B5EF4-FFF2-40B4-BE49-F238E27FC236}">
                <a16:creationId xmlns:a16="http://schemas.microsoft.com/office/drawing/2014/main" id="{BFDA11C5-A9A1-64B8-25F6-01135C034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D69DBCF-E4BA-AF88-B955-F4AFDF58B6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ECFB07-2B17-4F73-9183-B074351CF643}" type="slidenum">
              <a:rPr lang="en-IN" smtClean="0"/>
              <a:t>‹#›</a:t>
            </a:fld>
            <a:endParaRPr lang="en-IN"/>
          </a:p>
        </p:txBody>
      </p:sp>
    </p:spTree>
    <p:extLst>
      <p:ext uri="{BB962C8B-B14F-4D97-AF65-F5344CB8AC3E}">
        <p14:creationId xmlns:p14="http://schemas.microsoft.com/office/powerpoint/2010/main" val="3425559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54E37-0656-FF64-2C11-76377E9CF7D5}"/>
              </a:ext>
            </a:extLst>
          </p:cNvPr>
          <p:cNvSpPr>
            <a:spLocks noGrp="1"/>
          </p:cNvSpPr>
          <p:nvPr>
            <p:ph type="ctrTitle"/>
          </p:nvPr>
        </p:nvSpPr>
        <p:spPr/>
        <p:txBody>
          <a:bodyPr/>
          <a:lstStyle/>
          <a:p>
            <a:endParaRPr lang="en-IN"/>
          </a:p>
        </p:txBody>
      </p:sp>
      <p:pic>
        <p:nvPicPr>
          <p:cNvPr id="5" name="Picture 4">
            <a:extLst>
              <a:ext uri="{FF2B5EF4-FFF2-40B4-BE49-F238E27FC236}">
                <a16:creationId xmlns:a16="http://schemas.microsoft.com/office/drawing/2014/main" id="{ECF7AB4E-6CA0-391C-652D-21530CC7A1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
            <a:ext cx="12192000" cy="6857999"/>
          </a:xfrm>
          <a:prstGeom prst="rect">
            <a:avLst/>
          </a:prstGeom>
        </p:spPr>
      </p:pic>
      <p:pic>
        <p:nvPicPr>
          <p:cNvPr id="8" name="Graphic 7">
            <a:extLst>
              <a:ext uri="{FF2B5EF4-FFF2-40B4-BE49-F238E27FC236}">
                <a16:creationId xmlns:a16="http://schemas.microsoft.com/office/drawing/2014/main" id="{6431FC2A-B6D3-7988-6403-8E802CDE63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3830" y="3005297"/>
            <a:ext cx="5264341" cy="847407"/>
          </a:xfrm>
          <a:prstGeom prst="rect">
            <a:avLst/>
          </a:prstGeom>
        </p:spPr>
      </p:pic>
    </p:spTree>
    <p:extLst>
      <p:ext uri="{BB962C8B-B14F-4D97-AF65-F5344CB8AC3E}">
        <p14:creationId xmlns:p14="http://schemas.microsoft.com/office/powerpoint/2010/main" val="367434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par>
                                <p:cTn id="8" presetID="16" presetClass="entr" presetSubtype="2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F317-6DE3-F482-5416-59F9A86DF782}"/>
              </a:ext>
            </a:extLst>
          </p:cNvPr>
          <p:cNvSpPr>
            <a:spLocks noGrp="1"/>
          </p:cNvSpPr>
          <p:nvPr>
            <p:ph type="ctrTitle"/>
          </p:nvPr>
        </p:nvSpPr>
        <p:spPr>
          <a:xfrm>
            <a:off x="1342103" y="2917799"/>
            <a:ext cx="9232490" cy="1022402"/>
          </a:xfrm>
        </p:spPr>
        <p:txBody>
          <a:bodyPr>
            <a:normAutofit/>
          </a:bodyPr>
          <a:lstStyle/>
          <a:p>
            <a:r>
              <a:rPr lang="en-US" b="1" dirty="0">
                <a:solidFill>
                  <a:srgbClr val="F9DE07"/>
                </a:solidFill>
                <a:latin typeface="Arial" panose="020B0604020202020204" pitchFamily="34" charset="0"/>
                <a:cs typeface="Arial" panose="020B0604020202020204" pitchFamily="34" charset="0"/>
              </a:rPr>
              <a:t>Emotional Route</a:t>
            </a:r>
            <a:endParaRPr lang="en-IN" b="1" dirty="0">
              <a:solidFill>
                <a:srgbClr val="F9DE0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0612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31F0771-B103-251B-0CC1-CA0A6D098CB5}"/>
              </a:ext>
            </a:extLst>
          </p:cNvPr>
          <p:cNvSpPr>
            <a:spLocks noGrp="1"/>
          </p:cNvSpPr>
          <p:nvPr>
            <p:ph type="title"/>
          </p:nvPr>
        </p:nvSpPr>
        <p:spPr>
          <a:xfrm>
            <a:off x="835742" y="1661652"/>
            <a:ext cx="9969910" cy="3687096"/>
          </a:xfrm>
        </p:spPr>
        <p:txBody>
          <a:bodyPr>
            <a:noAutofit/>
          </a:bodyPr>
          <a:lstStyle/>
          <a:p>
            <a:pPr>
              <a:lnSpc>
                <a:spcPct val="100000"/>
              </a:lnSpc>
            </a:pPr>
            <a:r>
              <a:rPr lang="en-US" sz="2400" b="1" dirty="0"/>
              <a:t>Concept Note:</a:t>
            </a:r>
            <a:br>
              <a:rPr lang="en-US" sz="2400" b="1" dirty="0"/>
            </a:br>
            <a:br>
              <a:rPr lang="en-US" sz="1800" dirty="0"/>
            </a:br>
            <a:r>
              <a:rPr lang="en-US" sz="1800" dirty="0"/>
              <a:t>The ad for Sun King is centered around the theme of "Brightening Moments, Illuminating Lives." It depicts an elderly couple sharing a tender moment, which is enhanced by the bright, warm light provided by the Sun King bulb. The advertisement highlights the bulb's features such as 4kVA surge protection, 900 lumens brightness, 90% energy savings, and a 2-year warranty.</a:t>
            </a:r>
            <a:br>
              <a:rPr lang="en-US" sz="1800" dirty="0"/>
            </a:br>
            <a:br>
              <a:rPr lang="en-US" sz="1800" dirty="0"/>
            </a:br>
            <a:endParaRPr lang="en-IN" sz="1800" b="1" dirty="0"/>
          </a:p>
        </p:txBody>
      </p:sp>
    </p:spTree>
    <p:extLst>
      <p:ext uri="{BB962C8B-B14F-4D97-AF65-F5344CB8AC3E}">
        <p14:creationId xmlns:p14="http://schemas.microsoft.com/office/powerpoint/2010/main" val="1617591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31F0771-B103-251B-0CC1-CA0A6D098CB5}"/>
              </a:ext>
            </a:extLst>
          </p:cNvPr>
          <p:cNvSpPr>
            <a:spLocks noGrp="1"/>
          </p:cNvSpPr>
          <p:nvPr>
            <p:ph type="title"/>
          </p:nvPr>
        </p:nvSpPr>
        <p:spPr>
          <a:xfrm>
            <a:off x="835742" y="1386349"/>
            <a:ext cx="9969910" cy="3687096"/>
          </a:xfrm>
        </p:spPr>
        <p:txBody>
          <a:bodyPr>
            <a:noAutofit/>
          </a:bodyPr>
          <a:lstStyle/>
          <a:p>
            <a:pPr>
              <a:lnSpc>
                <a:spcPct val="100000"/>
              </a:lnSpc>
            </a:pPr>
            <a:r>
              <a:rPr lang="en-US" sz="1800" b="1" dirty="0"/>
              <a:t>Headline:</a:t>
            </a:r>
            <a:br>
              <a:rPr lang="en-US" sz="1800" dirty="0"/>
            </a:br>
            <a:r>
              <a:rPr lang="en-US" sz="1800" b="1" dirty="0"/>
              <a:t>"Brightening Moments, Illuminating Lives" </a:t>
            </a:r>
            <a:r>
              <a:rPr lang="en-US" sz="1800" dirty="0"/>
              <a:t>succinctly conveys that Sun King bulbs do more than just light up spaces; they enhance life experiences.</a:t>
            </a:r>
            <a:br>
              <a:rPr lang="en-US" sz="1800" dirty="0"/>
            </a:br>
            <a:br>
              <a:rPr lang="en-US" sz="1800" dirty="0"/>
            </a:br>
            <a:br>
              <a:rPr lang="en-US" sz="1800" dirty="0"/>
            </a:br>
            <a:r>
              <a:rPr lang="en-US" sz="1800" b="1" dirty="0"/>
              <a:t>Couple's Interaction</a:t>
            </a:r>
            <a:r>
              <a:rPr lang="en-US" sz="1800" dirty="0"/>
              <a:t>:</a:t>
            </a:r>
            <a:br>
              <a:rPr lang="en-US" sz="1800" dirty="0"/>
            </a:br>
            <a:r>
              <a:rPr lang="en-US" sz="1800" dirty="0"/>
              <a:t>The elderly couple symbolizes a lifelong bond and mutual care, reflecting the reliability and enduring quality of Sun King bulbs. The man is helping the woman, perhaps in getting ready, which is an intimate, everyday moment made special by good lighting.</a:t>
            </a:r>
            <a:br>
              <a:rPr lang="en-US" sz="1800" dirty="0"/>
            </a:br>
            <a:br>
              <a:rPr lang="en-US" sz="1800" dirty="0"/>
            </a:br>
            <a:br>
              <a:rPr lang="en-US" sz="1800" dirty="0"/>
            </a:br>
            <a:r>
              <a:rPr lang="en-US" sz="1800" b="1" dirty="0"/>
              <a:t>Emotional Appeal:</a:t>
            </a:r>
            <a:br>
              <a:rPr lang="en-US" sz="1800" dirty="0"/>
            </a:br>
            <a:r>
              <a:rPr lang="en-US" sz="1800" dirty="0"/>
              <a:t>The ad taps into the emotional aspect of home and family, suggesting that good lighting can enhance daily life and cherished moments. The elderly couple represents trust and long-term commitment, paralleling the trust and reliability Sun King promises to its customers.</a:t>
            </a:r>
            <a:endParaRPr lang="en-IN" sz="1800" b="1" dirty="0"/>
          </a:p>
        </p:txBody>
      </p:sp>
    </p:spTree>
    <p:extLst>
      <p:ext uri="{BB962C8B-B14F-4D97-AF65-F5344CB8AC3E}">
        <p14:creationId xmlns:p14="http://schemas.microsoft.com/office/powerpoint/2010/main" val="1699568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888447-D5CC-D4DE-8AB2-C74D32F21A00}"/>
              </a:ext>
            </a:extLst>
          </p:cNvPr>
          <p:cNvPicPr>
            <a:picLocks noChangeAspect="1"/>
          </p:cNvPicPr>
          <p:nvPr/>
        </p:nvPicPr>
        <p:blipFill>
          <a:blip r:embed="rId2"/>
          <a:srcRect/>
          <a:stretch/>
        </p:blipFill>
        <p:spPr>
          <a:xfrm>
            <a:off x="3002183" y="427297"/>
            <a:ext cx="6187633" cy="6187633"/>
          </a:xfrm>
          <a:prstGeom prst="rect">
            <a:avLst/>
          </a:prstGeom>
        </p:spPr>
      </p:pic>
      <p:sp>
        <p:nvSpPr>
          <p:cNvPr id="5" name="Title 5">
            <a:extLst>
              <a:ext uri="{FF2B5EF4-FFF2-40B4-BE49-F238E27FC236}">
                <a16:creationId xmlns:a16="http://schemas.microsoft.com/office/drawing/2014/main" id="{1E89006D-009B-6D71-5102-2D3BF7A98065}"/>
              </a:ext>
            </a:extLst>
          </p:cNvPr>
          <p:cNvSpPr>
            <a:spLocks noGrp="1"/>
          </p:cNvSpPr>
          <p:nvPr>
            <p:ph type="title"/>
          </p:nvPr>
        </p:nvSpPr>
        <p:spPr>
          <a:xfrm>
            <a:off x="291732" y="216401"/>
            <a:ext cx="1131954" cy="421791"/>
          </a:xfrm>
        </p:spPr>
        <p:txBody>
          <a:bodyPr>
            <a:noAutofit/>
          </a:bodyPr>
          <a:lstStyle/>
          <a:p>
            <a:pPr>
              <a:lnSpc>
                <a:spcPct val="100000"/>
              </a:lnSpc>
            </a:pPr>
            <a:r>
              <a:rPr lang="en-US" sz="2400" b="1" dirty="0"/>
              <a:t>Post 01</a:t>
            </a:r>
            <a:endParaRPr lang="en-IN" sz="1800" b="1" dirty="0"/>
          </a:p>
        </p:txBody>
      </p:sp>
    </p:spTree>
    <p:extLst>
      <p:ext uri="{BB962C8B-B14F-4D97-AF65-F5344CB8AC3E}">
        <p14:creationId xmlns:p14="http://schemas.microsoft.com/office/powerpoint/2010/main" val="4103979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7BC423-9573-2E19-6BB5-205443AE6635}"/>
              </a:ext>
            </a:extLst>
          </p:cNvPr>
          <p:cNvPicPr>
            <a:picLocks noChangeAspect="1"/>
          </p:cNvPicPr>
          <p:nvPr/>
        </p:nvPicPr>
        <p:blipFill rotWithShape="1">
          <a:blip r:embed="rId2">
            <a:extLst>
              <a:ext uri="{28A0092B-C50C-407E-A947-70E740481C1C}">
                <a14:useLocalDpi xmlns:a14="http://schemas.microsoft.com/office/drawing/2010/main" val="0"/>
              </a:ext>
            </a:extLst>
          </a:blip>
          <a:srcRect l="14630" r="17663"/>
          <a:stretch/>
        </p:blipFill>
        <p:spPr>
          <a:xfrm>
            <a:off x="3485470" y="2009171"/>
            <a:ext cx="2287156" cy="2253139"/>
          </a:xfrm>
          <a:prstGeom prst="rect">
            <a:avLst/>
          </a:prstGeom>
        </p:spPr>
      </p:pic>
      <p:pic>
        <p:nvPicPr>
          <p:cNvPr id="3" name="Picture 2">
            <a:extLst>
              <a:ext uri="{FF2B5EF4-FFF2-40B4-BE49-F238E27FC236}">
                <a16:creationId xmlns:a16="http://schemas.microsoft.com/office/drawing/2014/main" id="{B0DD2CF4-5EAA-3292-9342-35C7FA478891}"/>
              </a:ext>
            </a:extLst>
          </p:cNvPr>
          <p:cNvPicPr>
            <a:picLocks noChangeAspect="1"/>
          </p:cNvPicPr>
          <p:nvPr/>
        </p:nvPicPr>
        <p:blipFill rotWithShape="1">
          <a:blip r:embed="rId3">
            <a:extLst>
              <a:ext uri="{28A0092B-C50C-407E-A947-70E740481C1C}">
                <a14:useLocalDpi xmlns:a14="http://schemas.microsoft.com/office/drawing/2010/main" val="0"/>
              </a:ext>
            </a:extLst>
          </a:blip>
          <a:srcRect l="20746" r="25622"/>
          <a:stretch/>
        </p:blipFill>
        <p:spPr>
          <a:xfrm>
            <a:off x="1071960" y="2006594"/>
            <a:ext cx="2287157" cy="2247410"/>
          </a:xfrm>
          <a:prstGeom prst="rect">
            <a:avLst/>
          </a:prstGeom>
        </p:spPr>
      </p:pic>
      <p:pic>
        <p:nvPicPr>
          <p:cNvPr id="8" name="Picture 7">
            <a:extLst>
              <a:ext uri="{FF2B5EF4-FFF2-40B4-BE49-F238E27FC236}">
                <a16:creationId xmlns:a16="http://schemas.microsoft.com/office/drawing/2014/main" id="{AD32857C-90F9-3D67-6B6A-37728CB4ACCD}"/>
              </a:ext>
            </a:extLst>
          </p:cNvPr>
          <p:cNvPicPr>
            <a:picLocks noChangeAspect="1"/>
          </p:cNvPicPr>
          <p:nvPr/>
        </p:nvPicPr>
        <p:blipFill rotWithShape="1">
          <a:blip r:embed="rId4">
            <a:extLst>
              <a:ext uri="{28A0092B-C50C-407E-A947-70E740481C1C}">
                <a14:useLocalDpi xmlns:a14="http://schemas.microsoft.com/office/drawing/2010/main" val="0"/>
              </a:ext>
            </a:extLst>
          </a:blip>
          <a:srcRect l="15496" r="30888"/>
          <a:stretch/>
        </p:blipFill>
        <p:spPr>
          <a:xfrm>
            <a:off x="5909138" y="2006944"/>
            <a:ext cx="2287156" cy="2248032"/>
          </a:xfrm>
          <a:prstGeom prst="rect">
            <a:avLst/>
          </a:prstGeom>
        </p:spPr>
      </p:pic>
      <p:pic>
        <p:nvPicPr>
          <p:cNvPr id="11" name="Picture 10">
            <a:extLst>
              <a:ext uri="{FF2B5EF4-FFF2-40B4-BE49-F238E27FC236}">
                <a16:creationId xmlns:a16="http://schemas.microsoft.com/office/drawing/2014/main" id="{434F3FE2-C5B9-AA45-AF35-3D3C35D698A6}"/>
              </a:ext>
            </a:extLst>
          </p:cNvPr>
          <p:cNvPicPr>
            <a:picLocks noChangeAspect="1"/>
          </p:cNvPicPr>
          <p:nvPr/>
        </p:nvPicPr>
        <p:blipFill rotWithShape="1">
          <a:blip r:embed="rId5">
            <a:extLst>
              <a:ext uri="{28A0092B-C50C-407E-A947-70E740481C1C}">
                <a14:useLocalDpi xmlns:a14="http://schemas.microsoft.com/office/drawing/2010/main" val="0"/>
              </a:ext>
            </a:extLst>
          </a:blip>
          <a:srcRect l="6525" r="25630"/>
          <a:stretch/>
        </p:blipFill>
        <p:spPr>
          <a:xfrm>
            <a:off x="1071960" y="4369455"/>
            <a:ext cx="2287157" cy="2247410"/>
          </a:xfrm>
          <a:prstGeom prst="rect">
            <a:avLst/>
          </a:prstGeom>
        </p:spPr>
      </p:pic>
      <p:pic>
        <p:nvPicPr>
          <p:cNvPr id="15" name="Picture 14">
            <a:extLst>
              <a:ext uri="{FF2B5EF4-FFF2-40B4-BE49-F238E27FC236}">
                <a16:creationId xmlns:a16="http://schemas.microsoft.com/office/drawing/2014/main" id="{7A5A3744-1F6D-D8C9-1645-9B5305F2BFD2}"/>
              </a:ext>
            </a:extLst>
          </p:cNvPr>
          <p:cNvPicPr>
            <a:picLocks noChangeAspect="1"/>
          </p:cNvPicPr>
          <p:nvPr/>
        </p:nvPicPr>
        <p:blipFill rotWithShape="1">
          <a:blip r:embed="rId6"/>
          <a:srcRect l="20181" r="12490"/>
          <a:stretch/>
        </p:blipFill>
        <p:spPr>
          <a:xfrm>
            <a:off x="3485469" y="4371865"/>
            <a:ext cx="2287156" cy="2264663"/>
          </a:xfrm>
          <a:prstGeom prst="rect">
            <a:avLst/>
          </a:prstGeom>
        </p:spPr>
      </p:pic>
      <p:pic>
        <p:nvPicPr>
          <p:cNvPr id="17" name="Picture 16">
            <a:extLst>
              <a:ext uri="{FF2B5EF4-FFF2-40B4-BE49-F238E27FC236}">
                <a16:creationId xmlns:a16="http://schemas.microsoft.com/office/drawing/2014/main" id="{C4B1509A-AF2C-5D2B-E82E-34AC01E069EE}"/>
              </a:ext>
            </a:extLst>
          </p:cNvPr>
          <p:cNvPicPr>
            <a:picLocks noChangeAspect="1"/>
          </p:cNvPicPr>
          <p:nvPr/>
        </p:nvPicPr>
        <p:blipFill rotWithShape="1">
          <a:blip r:embed="rId7">
            <a:extLst>
              <a:ext uri="{28A0092B-C50C-407E-A947-70E740481C1C}">
                <a14:useLocalDpi xmlns:a14="http://schemas.microsoft.com/office/drawing/2010/main" val="0"/>
              </a:ext>
            </a:extLst>
          </a:blip>
          <a:srcRect l="5049" r="27535"/>
          <a:stretch/>
        </p:blipFill>
        <p:spPr>
          <a:xfrm>
            <a:off x="5909138" y="4364152"/>
            <a:ext cx="2287158" cy="2262873"/>
          </a:xfrm>
          <a:prstGeom prst="rect">
            <a:avLst/>
          </a:prstGeom>
        </p:spPr>
      </p:pic>
      <p:sp>
        <p:nvSpPr>
          <p:cNvPr id="2" name="Title 5">
            <a:extLst>
              <a:ext uri="{FF2B5EF4-FFF2-40B4-BE49-F238E27FC236}">
                <a16:creationId xmlns:a16="http://schemas.microsoft.com/office/drawing/2014/main" id="{88BDC95C-D549-5571-FABA-F02BA1204649}"/>
              </a:ext>
            </a:extLst>
          </p:cNvPr>
          <p:cNvSpPr>
            <a:spLocks noGrp="1"/>
          </p:cNvSpPr>
          <p:nvPr>
            <p:ph type="title"/>
          </p:nvPr>
        </p:nvSpPr>
        <p:spPr>
          <a:xfrm>
            <a:off x="1032543" y="221472"/>
            <a:ext cx="10773665" cy="2247410"/>
          </a:xfrm>
        </p:spPr>
        <p:txBody>
          <a:bodyPr>
            <a:noAutofit/>
          </a:bodyPr>
          <a:lstStyle/>
          <a:p>
            <a:pPr>
              <a:lnSpc>
                <a:spcPct val="100000"/>
              </a:lnSpc>
            </a:pPr>
            <a:r>
              <a:rPr lang="en-US" sz="2400" b="1" dirty="0" err="1"/>
              <a:t>Moodboard</a:t>
            </a:r>
            <a:r>
              <a:rPr lang="en-US" sz="2400" b="1" dirty="0"/>
              <a:t>:</a:t>
            </a:r>
            <a:br>
              <a:rPr lang="en-US" sz="1800" dirty="0"/>
            </a:br>
            <a:r>
              <a:rPr lang="en-US" sz="1800" dirty="0"/>
              <a:t>Lorem Ipsum is simply dummy text of the printing and typesetting industry. Lorem Ipsum has been the industry's standard dummy text ever since the 1500s, when an unknown printer took a galley of type and scrambled it to make a type specimen book.</a:t>
            </a:r>
            <a:br>
              <a:rPr lang="en-US" sz="1800" dirty="0"/>
            </a:br>
            <a:br>
              <a:rPr lang="en-US" sz="1800" dirty="0"/>
            </a:br>
            <a:endParaRPr lang="en-IN" sz="1800" b="1" dirty="0"/>
          </a:p>
        </p:txBody>
      </p:sp>
    </p:spTree>
    <p:extLst>
      <p:ext uri="{BB962C8B-B14F-4D97-AF65-F5344CB8AC3E}">
        <p14:creationId xmlns:p14="http://schemas.microsoft.com/office/powerpoint/2010/main" val="887640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31F0771-B103-251B-0CC1-CA0A6D098CB5}"/>
              </a:ext>
            </a:extLst>
          </p:cNvPr>
          <p:cNvSpPr>
            <a:spLocks noGrp="1"/>
          </p:cNvSpPr>
          <p:nvPr>
            <p:ph type="title"/>
          </p:nvPr>
        </p:nvSpPr>
        <p:spPr>
          <a:xfrm>
            <a:off x="835742" y="1661652"/>
            <a:ext cx="9969910" cy="3687096"/>
          </a:xfrm>
        </p:spPr>
        <p:txBody>
          <a:bodyPr>
            <a:noAutofit/>
          </a:bodyPr>
          <a:lstStyle/>
          <a:p>
            <a:pPr>
              <a:lnSpc>
                <a:spcPct val="100000"/>
              </a:lnSpc>
            </a:pPr>
            <a:r>
              <a:rPr lang="en-US" sz="2400" b="1" dirty="0"/>
              <a:t>Concept Note:</a:t>
            </a:r>
            <a:br>
              <a:rPr lang="en-US" sz="2400" b="1" dirty="0"/>
            </a:br>
            <a:br>
              <a:rPr lang="en-US" sz="1800" dirty="0"/>
            </a:br>
            <a:r>
              <a:rPr lang="en-US" sz="1800" dirty="0"/>
              <a:t>The ad for Sun King is centered around the theme of "Brightening Moments, Illuminating Lives." It depicts an elderly couple sharing a tender moment, which is enhanced by the bright, warm light provided by the Sun King bulb. The advertisement highlights the bulb's features such as 4kVA surge protection, 900 lumens brightness, 90% energy savings, and a 2-year warranty.</a:t>
            </a:r>
            <a:br>
              <a:rPr lang="en-US" sz="1800" dirty="0"/>
            </a:br>
            <a:br>
              <a:rPr lang="en-US" sz="1800" dirty="0"/>
            </a:br>
            <a:endParaRPr lang="en-IN" sz="1800" b="1" dirty="0"/>
          </a:p>
        </p:txBody>
      </p:sp>
    </p:spTree>
    <p:extLst>
      <p:ext uri="{BB962C8B-B14F-4D97-AF65-F5344CB8AC3E}">
        <p14:creationId xmlns:p14="http://schemas.microsoft.com/office/powerpoint/2010/main" val="4031968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31F0771-B103-251B-0CC1-CA0A6D098CB5}"/>
              </a:ext>
            </a:extLst>
          </p:cNvPr>
          <p:cNvSpPr>
            <a:spLocks noGrp="1"/>
          </p:cNvSpPr>
          <p:nvPr>
            <p:ph type="title"/>
          </p:nvPr>
        </p:nvSpPr>
        <p:spPr>
          <a:xfrm>
            <a:off x="835742" y="1386349"/>
            <a:ext cx="9969910" cy="3687096"/>
          </a:xfrm>
        </p:spPr>
        <p:txBody>
          <a:bodyPr>
            <a:noAutofit/>
          </a:bodyPr>
          <a:lstStyle/>
          <a:p>
            <a:pPr>
              <a:lnSpc>
                <a:spcPct val="100000"/>
              </a:lnSpc>
            </a:pPr>
            <a:r>
              <a:rPr lang="en-US" sz="1800" b="1" dirty="0"/>
              <a:t>Headline:</a:t>
            </a:r>
            <a:br>
              <a:rPr lang="en-US" sz="1800" dirty="0"/>
            </a:br>
            <a:r>
              <a:rPr lang="en-US" sz="1800" b="1" dirty="0"/>
              <a:t>"Brightening Moments, Illuminating Lives" </a:t>
            </a:r>
            <a:r>
              <a:rPr lang="en-US" sz="1800" dirty="0"/>
              <a:t>succinctly conveys that Sun King bulbs do more than just light up spaces; they enhance life experiences.</a:t>
            </a:r>
            <a:br>
              <a:rPr lang="en-US" sz="1800" dirty="0"/>
            </a:br>
            <a:br>
              <a:rPr lang="en-US" sz="1800" dirty="0"/>
            </a:br>
            <a:br>
              <a:rPr lang="en-US" sz="1800" dirty="0"/>
            </a:br>
            <a:r>
              <a:rPr lang="en-US" sz="1800" b="1" dirty="0"/>
              <a:t>Couple's Interaction</a:t>
            </a:r>
            <a:r>
              <a:rPr lang="en-US" sz="1800" dirty="0"/>
              <a:t>:</a:t>
            </a:r>
            <a:br>
              <a:rPr lang="en-US" sz="1800" dirty="0"/>
            </a:br>
            <a:r>
              <a:rPr lang="en-US" sz="1800" dirty="0"/>
              <a:t>The elderly couple symbolizes a lifelong bond and mutual care, reflecting the reliability and enduring quality of Sun King bulbs. The man is helping the woman, perhaps in getting ready, which is an intimate, everyday moment made special by good lighting.</a:t>
            </a:r>
            <a:br>
              <a:rPr lang="en-US" sz="1800" dirty="0"/>
            </a:br>
            <a:br>
              <a:rPr lang="en-US" sz="1800" dirty="0"/>
            </a:br>
            <a:br>
              <a:rPr lang="en-US" sz="1800" dirty="0"/>
            </a:br>
            <a:r>
              <a:rPr lang="en-US" sz="1800" b="1" dirty="0"/>
              <a:t>Emotional Appeal:</a:t>
            </a:r>
            <a:br>
              <a:rPr lang="en-US" sz="1800" dirty="0"/>
            </a:br>
            <a:r>
              <a:rPr lang="en-US" sz="1800" dirty="0"/>
              <a:t>The ad taps into the emotional aspect of home and family, suggesting that good lighting can enhance daily life and cherished moments. The elderly couple represents trust and long-term commitment, paralleling the trust and reliability Sun King promises to its customers.</a:t>
            </a:r>
            <a:endParaRPr lang="en-IN" sz="1800" b="1" dirty="0"/>
          </a:p>
        </p:txBody>
      </p:sp>
    </p:spTree>
    <p:extLst>
      <p:ext uri="{BB962C8B-B14F-4D97-AF65-F5344CB8AC3E}">
        <p14:creationId xmlns:p14="http://schemas.microsoft.com/office/powerpoint/2010/main" val="2245380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7BC423-9573-2E19-6BB5-205443AE6635}"/>
              </a:ext>
            </a:extLst>
          </p:cNvPr>
          <p:cNvPicPr>
            <a:picLocks noChangeAspect="1"/>
          </p:cNvPicPr>
          <p:nvPr/>
        </p:nvPicPr>
        <p:blipFill rotWithShape="1">
          <a:blip r:embed="rId2">
            <a:extLst>
              <a:ext uri="{28A0092B-C50C-407E-A947-70E740481C1C}">
                <a14:useLocalDpi xmlns:a14="http://schemas.microsoft.com/office/drawing/2010/main" val="0"/>
              </a:ext>
            </a:extLst>
          </a:blip>
          <a:srcRect l="14630" r="17663"/>
          <a:stretch/>
        </p:blipFill>
        <p:spPr>
          <a:xfrm>
            <a:off x="3485470" y="2009171"/>
            <a:ext cx="2287156" cy="2253139"/>
          </a:xfrm>
          <a:prstGeom prst="rect">
            <a:avLst/>
          </a:prstGeom>
        </p:spPr>
      </p:pic>
      <p:pic>
        <p:nvPicPr>
          <p:cNvPr id="3" name="Picture 2">
            <a:extLst>
              <a:ext uri="{FF2B5EF4-FFF2-40B4-BE49-F238E27FC236}">
                <a16:creationId xmlns:a16="http://schemas.microsoft.com/office/drawing/2014/main" id="{B0DD2CF4-5EAA-3292-9342-35C7FA478891}"/>
              </a:ext>
            </a:extLst>
          </p:cNvPr>
          <p:cNvPicPr>
            <a:picLocks noChangeAspect="1"/>
          </p:cNvPicPr>
          <p:nvPr/>
        </p:nvPicPr>
        <p:blipFill rotWithShape="1">
          <a:blip r:embed="rId3">
            <a:extLst>
              <a:ext uri="{28A0092B-C50C-407E-A947-70E740481C1C}">
                <a14:useLocalDpi xmlns:a14="http://schemas.microsoft.com/office/drawing/2010/main" val="0"/>
              </a:ext>
            </a:extLst>
          </a:blip>
          <a:srcRect l="20746" r="25622"/>
          <a:stretch/>
        </p:blipFill>
        <p:spPr>
          <a:xfrm>
            <a:off x="1071960" y="2006594"/>
            <a:ext cx="2287157" cy="2247410"/>
          </a:xfrm>
          <a:prstGeom prst="rect">
            <a:avLst/>
          </a:prstGeom>
        </p:spPr>
      </p:pic>
      <p:pic>
        <p:nvPicPr>
          <p:cNvPr id="8" name="Picture 7">
            <a:extLst>
              <a:ext uri="{FF2B5EF4-FFF2-40B4-BE49-F238E27FC236}">
                <a16:creationId xmlns:a16="http://schemas.microsoft.com/office/drawing/2014/main" id="{AD32857C-90F9-3D67-6B6A-37728CB4ACCD}"/>
              </a:ext>
            </a:extLst>
          </p:cNvPr>
          <p:cNvPicPr>
            <a:picLocks noChangeAspect="1"/>
          </p:cNvPicPr>
          <p:nvPr/>
        </p:nvPicPr>
        <p:blipFill rotWithShape="1">
          <a:blip r:embed="rId4">
            <a:extLst>
              <a:ext uri="{28A0092B-C50C-407E-A947-70E740481C1C}">
                <a14:useLocalDpi xmlns:a14="http://schemas.microsoft.com/office/drawing/2010/main" val="0"/>
              </a:ext>
            </a:extLst>
          </a:blip>
          <a:srcRect l="15496" r="30888"/>
          <a:stretch/>
        </p:blipFill>
        <p:spPr>
          <a:xfrm>
            <a:off x="5909138" y="2006944"/>
            <a:ext cx="2287156" cy="2248032"/>
          </a:xfrm>
          <a:prstGeom prst="rect">
            <a:avLst/>
          </a:prstGeom>
        </p:spPr>
      </p:pic>
      <p:pic>
        <p:nvPicPr>
          <p:cNvPr id="11" name="Picture 10">
            <a:extLst>
              <a:ext uri="{FF2B5EF4-FFF2-40B4-BE49-F238E27FC236}">
                <a16:creationId xmlns:a16="http://schemas.microsoft.com/office/drawing/2014/main" id="{434F3FE2-C5B9-AA45-AF35-3D3C35D698A6}"/>
              </a:ext>
            </a:extLst>
          </p:cNvPr>
          <p:cNvPicPr>
            <a:picLocks noChangeAspect="1"/>
          </p:cNvPicPr>
          <p:nvPr/>
        </p:nvPicPr>
        <p:blipFill rotWithShape="1">
          <a:blip r:embed="rId5">
            <a:extLst>
              <a:ext uri="{28A0092B-C50C-407E-A947-70E740481C1C}">
                <a14:useLocalDpi xmlns:a14="http://schemas.microsoft.com/office/drawing/2010/main" val="0"/>
              </a:ext>
            </a:extLst>
          </a:blip>
          <a:srcRect l="6525" r="25630"/>
          <a:stretch/>
        </p:blipFill>
        <p:spPr>
          <a:xfrm>
            <a:off x="1071960" y="4369455"/>
            <a:ext cx="2287157" cy="2247410"/>
          </a:xfrm>
          <a:prstGeom prst="rect">
            <a:avLst/>
          </a:prstGeom>
        </p:spPr>
      </p:pic>
      <p:pic>
        <p:nvPicPr>
          <p:cNvPr id="15" name="Picture 14">
            <a:extLst>
              <a:ext uri="{FF2B5EF4-FFF2-40B4-BE49-F238E27FC236}">
                <a16:creationId xmlns:a16="http://schemas.microsoft.com/office/drawing/2014/main" id="{7A5A3744-1F6D-D8C9-1645-9B5305F2BFD2}"/>
              </a:ext>
            </a:extLst>
          </p:cNvPr>
          <p:cNvPicPr>
            <a:picLocks noChangeAspect="1"/>
          </p:cNvPicPr>
          <p:nvPr/>
        </p:nvPicPr>
        <p:blipFill rotWithShape="1">
          <a:blip r:embed="rId6"/>
          <a:srcRect l="20181" r="12490"/>
          <a:stretch/>
        </p:blipFill>
        <p:spPr>
          <a:xfrm>
            <a:off x="3485469" y="4371865"/>
            <a:ext cx="2287156" cy="2264663"/>
          </a:xfrm>
          <a:prstGeom prst="rect">
            <a:avLst/>
          </a:prstGeom>
        </p:spPr>
      </p:pic>
      <p:pic>
        <p:nvPicPr>
          <p:cNvPr id="17" name="Picture 16">
            <a:extLst>
              <a:ext uri="{FF2B5EF4-FFF2-40B4-BE49-F238E27FC236}">
                <a16:creationId xmlns:a16="http://schemas.microsoft.com/office/drawing/2014/main" id="{C4B1509A-AF2C-5D2B-E82E-34AC01E069EE}"/>
              </a:ext>
            </a:extLst>
          </p:cNvPr>
          <p:cNvPicPr>
            <a:picLocks noChangeAspect="1"/>
          </p:cNvPicPr>
          <p:nvPr/>
        </p:nvPicPr>
        <p:blipFill rotWithShape="1">
          <a:blip r:embed="rId7">
            <a:extLst>
              <a:ext uri="{28A0092B-C50C-407E-A947-70E740481C1C}">
                <a14:useLocalDpi xmlns:a14="http://schemas.microsoft.com/office/drawing/2010/main" val="0"/>
              </a:ext>
            </a:extLst>
          </a:blip>
          <a:srcRect l="5049" r="27535"/>
          <a:stretch/>
        </p:blipFill>
        <p:spPr>
          <a:xfrm>
            <a:off x="5909138" y="4364152"/>
            <a:ext cx="2287158" cy="2262873"/>
          </a:xfrm>
          <a:prstGeom prst="rect">
            <a:avLst/>
          </a:prstGeom>
        </p:spPr>
      </p:pic>
      <p:sp>
        <p:nvSpPr>
          <p:cNvPr id="2" name="Title 5">
            <a:extLst>
              <a:ext uri="{FF2B5EF4-FFF2-40B4-BE49-F238E27FC236}">
                <a16:creationId xmlns:a16="http://schemas.microsoft.com/office/drawing/2014/main" id="{88BDC95C-D549-5571-FABA-F02BA1204649}"/>
              </a:ext>
            </a:extLst>
          </p:cNvPr>
          <p:cNvSpPr>
            <a:spLocks noGrp="1"/>
          </p:cNvSpPr>
          <p:nvPr>
            <p:ph type="title"/>
          </p:nvPr>
        </p:nvSpPr>
        <p:spPr>
          <a:xfrm>
            <a:off x="1032543" y="221472"/>
            <a:ext cx="10773665" cy="2247410"/>
          </a:xfrm>
        </p:spPr>
        <p:txBody>
          <a:bodyPr>
            <a:noAutofit/>
          </a:bodyPr>
          <a:lstStyle/>
          <a:p>
            <a:pPr>
              <a:lnSpc>
                <a:spcPct val="100000"/>
              </a:lnSpc>
            </a:pPr>
            <a:r>
              <a:rPr lang="en-US" sz="2400" b="1" dirty="0" err="1"/>
              <a:t>Moodboard</a:t>
            </a:r>
            <a:r>
              <a:rPr lang="en-US" sz="2400" b="1" dirty="0"/>
              <a:t>:</a:t>
            </a:r>
            <a:br>
              <a:rPr lang="en-US" sz="1800" dirty="0"/>
            </a:br>
            <a:r>
              <a:rPr lang="en-US" sz="1800" dirty="0"/>
              <a:t>Lorem Ipsum is simply dummy text of the printing and typesetting industry. Lorem Ipsum has been the industry's standard dummy text ever since the 1500s, when an unknown printer took a galley of type and scrambled it to make a type specimen book.</a:t>
            </a:r>
            <a:br>
              <a:rPr lang="en-US" sz="1800" dirty="0"/>
            </a:br>
            <a:br>
              <a:rPr lang="en-US" sz="1800" dirty="0"/>
            </a:br>
            <a:endParaRPr lang="en-IN" sz="1800" b="1" dirty="0"/>
          </a:p>
        </p:txBody>
      </p:sp>
    </p:spTree>
    <p:extLst>
      <p:ext uri="{BB962C8B-B14F-4D97-AF65-F5344CB8AC3E}">
        <p14:creationId xmlns:p14="http://schemas.microsoft.com/office/powerpoint/2010/main" val="170144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F317-6DE3-F482-5416-59F9A86DF782}"/>
              </a:ext>
            </a:extLst>
          </p:cNvPr>
          <p:cNvSpPr>
            <a:spLocks noGrp="1"/>
          </p:cNvSpPr>
          <p:nvPr>
            <p:ph type="ctrTitle"/>
          </p:nvPr>
        </p:nvSpPr>
        <p:spPr>
          <a:xfrm>
            <a:off x="1342103" y="2917799"/>
            <a:ext cx="9232490" cy="1022402"/>
          </a:xfrm>
        </p:spPr>
        <p:txBody>
          <a:bodyPr>
            <a:normAutofit/>
          </a:bodyPr>
          <a:lstStyle/>
          <a:p>
            <a:r>
              <a:rPr lang="en-US" b="1" dirty="0">
                <a:solidFill>
                  <a:srgbClr val="F9DE07"/>
                </a:solidFill>
                <a:latin typeface="Arial" panose="020B0604020202020204" pitchFamily="34" charset="0"/>
                <a:cs typeface="Arial" panose="020B0604020202020204" pitchFamily="34" charset="0"/>
              </a:rPr>
              <a:t>Route Name</a:t>
            </a:r>
            <a:endParaRPr lang="en-IN" b="1" dirty="0">
              <a:solidFill>
                <a:srgbClr val="F9DE0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0435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F317-6DE3-F482-5416-59F9A86DF782}"/>
              </a:ext>
            </a:extLst>
          </p:cNvPr>
          <p:cNvSpPr>
            <a:spLocks noGrp="1"/>
          </p:cNvSpPr>
          <p:nvPr>
            <p:ph type="ctrTitle"/>
          </p:nvPr>
        </p:nvSpPr>
        <p:spPr>
          <a:xfrm>
            <a:off x="1524000" y="1417331"/>
            <a:ext cx="9144000" cy="2387600"/>
          </a:xfrm>
        </p:spPr>
        <p:txBody>
          <a:bodyPr/>
          <a:lstStyle/>
          <a:p>
            <a:r>
              <a:rPr lang="en-US" b="1" dirty="0"/>
              <a:t>Thank You</a:t>
            </a:r>
            <a:endParaRPr lang="en-IN" b="1" dirty="0"/>
          </a:p>
        </p:txBody>
      </p:sp>
    </p:spTree>
    <p:extLst>
      <p:ext uri="{BB962C8B-B14F-4D97-AF65-F5344CB8AC3E}">
        <p14:creationId xmlns:p14="http://schemas.microsoft.com/office/powerpoint/2010/main" val="725470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692</TotalTime>
  <Words>534</Words>
  <Application>Microsoft Office PowerPoint</Application>
  <PresentationFormat>Widescreen</PresentationFormat>
  <Paragraphs>10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Emotional Route</vt:lpstr>
      <vt:lpstr>Concept Note:  The ad for Sun King is centered around the theme of "Brightening Moments, Illuminating Lives." It depicts an elderly couple sharing a tender moment, which is enhanced by the bright, warm light provided by the Sun King bulb. The advertisement highlights the bulb's features such as 4kVA surge protection, 900 lumens brightness, 90% energy savings, and a 2-year warranty.  </vt:lpstr>
      <vt:lpstr>Headline: "Brightening Moments, Illuminating Lives" succinctly conveys that Sun King bulbs do more than just light up spaces; they enhance life experiences.   Couple's Interaction: The elderly couple symbolizes a lifelong bond and mutual care, reflecting the reliability and enduring quality of Sun King bulbs. The man is helping the woman, perhaps in getting ready, which is an intimate, everyday moment made special by good lighting.   Emotional Appeal: The ad taps into the emotional aspect of home and family, suggesting that good lighting can enhance daily life and cherished moments. The elderly couple represents trust and long-term commitment, paralleling the trust and reliability Sun King promises to its customers.</vt:lpstr>
      <vt:lpstr>Post 01</vt:lpstr>
      <vt:lpstr>Moodboard: Lorem Ipsum is simply dummy text of the printing and typesetting industry. Lorem Ipsum has been the industry's standard dummy text ever since the 1500s, when an unknown printer took a galley of type and scrambled it to make a type specimen book.  </vt:lpstr>
      <vt:lpstr>Concept Note:  The ad for Sun King is centered around the theme of "Brightening Moments, Illuminating Lives." It depicts an elderly couple sharing a tender moment, which is enhanced by the bright, warm light provided by the Sun King bulb. The advertisement highlights the bulb's features such as 4kVA surge protection, 900 lumens brightness, 90% energy savings, and a 2-year warranty.  </vt:lpstr>
      <vt:lpstr>Headline: "Brightening Moments, Illuminating Lives" succinctly conveys that Sun King bulbs do more than just light up spaces; they enhance life experiences.   Couple's Interaction: The elderly couple symbolizes a lifelong bond and mutual care, reflecting the reliability and enduring quality of Sun King bulbs. The man is helping the woman, perhaps in getting ready, which is an intimate, everyday moment made special by good lighting.   Emotional Appeal: The ad taps into the emotional aspect of home and family, suggesting that good lighting can enhance daily life and cherished moments. The elderly couple represents trust and long-term commitment, paralleling the trust and reliability Sun King promises to its customers.</vt:lpstr>
      <vt:lpstr>Moodboard: Lorem Ipsum is simply dummy text of the printing and typesetting industry. Lorem Ipsum has been the industry's standard dummy text ever since the 1500s, when an unknown printer took a galley of type and scrambled it to make a type specimen book.  </vt:lpstr>
      <vt:lpstr>Route Name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Vasudev Kalsulkar</dc:creator>
  <cp:lastModifiedBy>Vasudev Kalsulkar</cp:lastModifiedBy>
  <cp:revision>42</cp:revision>
  <dcterms:created xsi:type="dcterms:W3CDTF">2024-06-14T07:56:45Z</dcterms:created>
  <dcterms:modified xsi:type="dcterms:W3CDTF">2024-07-04T08:06:48Z</dcterms:modified>
</cp:coreProperties>
</file>